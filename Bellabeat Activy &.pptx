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4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33638-4ED3-4840-9D12-625EA9B494F2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BF4B5-CAE0-435E-B1F5-78B532364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7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BF4B5-CAE0-435E-B1F5-78B532364D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45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4591-F74C-94BE-F2FD-0D58394F1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86996-E85F-EC26-CA05-8CA78B1CC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15870-1D3B-DF13-DF05-77DDFFC99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7273-31A8-47D7-8614-967254383A8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324AA-6F84-59DD-CD5A-DE1512EE8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74AB3-16A0-7D67-9860-983CD4E0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082F-084A-485D-9409-C6C7F49E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14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BC4EE-F8A1-0B08-CD9E-4D07B137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011ED-88C9-2A6B-DD86-BFE63C4E4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100F4-8E17-22C6-8081-2EDEB4179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7273-31A8-47D7-8614-967254383A8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D81A6-8302-703D-6983-3AA78CD8E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0EF9B-F897-A0AD-697A-BFA507C62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082F-084A-485D-9409-C6C7F49E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00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D5DF4-37A0-A4AE-3F22-394811A8F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D4062-4BCB-36FE-01DB-916DD6374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1CC71-7A8F-F880-26CB-0AF247FD4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7273-31A8-47D7-8614-967254383A8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32A67-3087-D39F-45F2-2B23BFBB8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33E2B-5163-4F81-D5E4-60ADA7DC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082F-084A-485D-9409-C6C7F49E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7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BCB7-47C4-6F5C-0C0C-30DB4FE1F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D989F-6982-F2C8-60A5-D91894C7D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44A83-FFFE-03EE-40C0-2284519B5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5A457-EEF2-6C22-7D1A-656C18864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7273-31A8-47D7-8614-967254383A8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C4190-2DB8-5EC3-665D-C00911726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88F0B-0FCF-379F-BE28-2FCA3A91F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082F-084A-485D-9409-C6C7F49E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494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947E6-ED48-93FC-BDFE-36C33C418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91DC3-7DD5-1506-CF72-ECEF52657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DAB17-347E-C7D6-70C5-62FAF34A2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12759-C0B6-835B-F62D-B3F8FE0370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08333-66BB-F3AC-EEB5-3A3C522EDB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0AC8E7-79EA-E052-296D-C42DB52AA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7273-31A8-47D7-8614-967254383A8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474B60-B395-B23E-28AF-670445C7E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EE25C1-02B2-152B-22AC-26D1EA9EE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082F-084A-485D-9409-C6C7F49E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0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1B06-13D4-F78F-C2F2-D554FB5A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91264-45D9-045E-3C7B-F65001D44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7273-31A8-47D7-8614-967254383A8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B8036E-0344-FBC2-A4FC-06594DD98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67FB2-952B-A725-FB4A-2FD44C5D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082F-084A-485D-9409-C6C7F49E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3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2C0A7-BB17-9F75-8A4F-562F84A9D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7273-31A8-47D7-8614-967254383A8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5454D6-F215-4E58-E151-E074CAE6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9E8E3-A983-42BF-E935-6CBA87DFD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082F-084A-485D-9409-C6C7F49E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26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D722E-0369-714C-99FE-07A6A9847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238BB-A087-28E8-18F1-0AE86498B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1AF98-489A-D065-1EB6-03364B34C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233C3-6656-E59A-1E01-D44DAB8E7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7273-31A8-47D7-8614-967254383A8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9AFB7-48A5-5A47-2AD8-8880D76C2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C5378-93DB-B474-64E7-23F20692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082F-084A-485D-9409-C6C7F49E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11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AD570-6496-45F3-194F-8B46CD9D5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982C1-FA32-2F18-00AF-5F58C971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BF09A-B6B7-BDA6-19BB-0DBDAB0DE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37145-F655-2B7E-DCB6-6416AA6E0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7273-31A8-47D7-8614-967254383A8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BBC9F-3EAF-2A5B-722D-CDE3B5C03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80887-D1E7-372E-F987-C5014AA1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082F-084A-485D-9409-C6C7F49E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12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BC667-C097-0BCA-A0B6-0658AB7A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C32DD-3237-3D21-87C0-A1815FBF6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DF974-C13C-EFB4-34EA-8F996A5C3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7273-31A8-47D7-8614-967254383A8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9DCDE-17C1-5552-3C82-3CDBAB808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81886-721A-DD9C-CB76-81954A29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082F-084A-485D-9409-C6C7F49E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25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2A9F5A-7D6C-C137-393B-5466C1AE9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48A21D-C962-DFB2-7E45-8F01C32E6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33DFA-4D65-7C89-CDBE-95B8EAE17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7273-31A8-47D7-8614-967254383A8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08BD6-DB91-0FFF-EFC8-D5A1772C2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88EA4-2CD6-C3AE-5686-4FB6EE9D4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082F-084A-485D-9409-C6C7F49E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2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991C7D-9347-082E-FE7F-E98666B88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C8A4E-8E55-579F-9645-85C05E3E9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FC06C-A264-E1D3-51F3-264327572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BB7273-31A8-47D7-8614-967254383A8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381CC-F87F-8155-247F-BF75ECC36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AD44B-0B95-A0BF-714F-3C763DA14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3082F-084A-485D-9409-C6C7F49EB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61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DE49EB1A-440D-399B-851A-44BF52F10532}"/>
              </a:ext>
            </a:extLst>
          </p:cNvPr>
          <p:cNvSpPr>
            <a:spLocks noGrp="1" noChangeAspect="1" noChangeArrowheads="1"/>
          </p:cNvSpPr>
          <p:nvPr>
            <p:ph type="ctrTitle"/>
          </p:nvPr>
        </p:nvSpPr>
        <p:spPr bwMode="auto">
          <a:xfrm>
            <a:off x="643468" y="643467"/>
            <a:ext cx="4620584" cy="45671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n-US" sz="4400" dirty="0" err="1"/>
              <a:t>Bellabeat</a:t>
            </a:r>
            <a:r>
              <a:rPr lang="en-US" sz="4400" dirty="0"/>
              <a:t> </a:t>
            </a:r>
            <a:r>
              <a:rPr lang="en-US" sz="4400" dirty="0" err="1"/>
              <a:t>Activy</a:t>
            </a:r>
            <a:r>
              <a:rPr lang="en-US" sz="4400" dirty="0"/>
              <a:t> &amp; </a:t>
            </a:r>
            <a:br>
              <a:rPr lang="en-US" sz="4400" dirty="0"/>
            </a:br>
            <a:r>
              <a:rPr lang="en-US" sz="4400" dirty="0"/>
              <a:t>Behavior Analysis</a:t>
            </a:r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0593E-0878-EF60-FBD1-E3C3DED18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Exploring Solutions</a:t>
            </a:r>
          </a:p>
        </p:txBody>
      </p:sp>
      <p:pic>
        <p:nvPicPr>
          <p:cNvPr id="6" name="Picture 5" descr="A cell phone on a table&#10;&#10;AI-generated content may be incorrect.">
            <a:extLst>
              <a:ext uri="{FF2B5EF4-FFF2-40B4-BE49-F238E27FC236}">
                <a16:creationId xmlns:a16="http://schemas.microsoft.com/office/drawing/2014/main" id="{D6CEB715-DEF1-81C3-937D-759A7ED02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9" r="7688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86772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F1BBC-E3DB-24A1-66FD-9597382CC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EB8F858-34BE-5C27-D8A6-515D655E9408}"/>
              </a:ext>
            </a:extLst>
          </p:cNvPr>
          <p:cNvSpPr txBox="1"/>
          <p:nvPr/>
        </p:nvSpPr>
        <p:spPr>
          <a:xfrm>
            <a:off x="3205184" y="168526"/>
            <a:ext cx="8726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Users Fall 35% Short of Recommended Daily Step Levels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1F3EF-0E49-3270-425A-5F0C9FC216EA}"/>
              </a:ext>
            </a:extLst>
          </p:cNvPr>
          <p:cNvSpPr txBox="1"/>
          <p:nvPr/>
        </p:nvSpPr>
        <p:spPr>
          <a:xfrm>
            <a:off x="206477" y="787138"/>
            <a:ext cx="25072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insight:</a:t>
            </a:r>
          </a:p>
          <a:p>
            <a:r>
              <a:rPr lang="en-US" dirty="0"/>
              <a:t>Users average 6,547 daily steps vs 10,000 recommended (35% shortfall).</a:t>
            </a:r>
          </a:p>
          <a:p>
            <a:endParaRPr lang="en-US" dirty="0"/>
          </a:p>
          <a:p>
            <a:r>
              <a:rPr lang="en-US" b="1" dirty="0"/>
              <a:t>Recommendation:</a:t>
            </a:r>
          </a:p>
          <a:p>
            <a:r>
              <a:rPr lang="en-US" dirty="0"/>
              <a:t>Implement goal progression, milestone rewards, and reminders to increase engagement.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9F69818-C14C-8925-785F-521680706A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962954"/>
              </p:ext>
            </p:extLst>
          </p:nvPr>
        </p:nvGraphicFramePr>
        <p:xfrm>
          <a:off x="2713703" y="787138"/>
          <a:ext cx="9144000" cy="5855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81398" imgH="2933880" progId="Excel.Sheet.12">
                  <p:embed/>
                </p:oleObj>
              </mc:Choice>
              <mc:Fallback>
                <p:oleObj name="Worksheet" r:id="rId2" imgW="4581398" imgH="29338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13703" y="787138"/>
                        <a:ext cx="9144000" cy="58552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0073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FD5DFA6-242E-EE00-D55A-67B6630D7002}"/>
              </a:ext>
            </a:extLst>
          </p:cNvPr>
          <p:cNvSpPr txBox="1"/>
          <p:nvPr/>
        </p:nvSpPr>
        <p:spPr>
          <a:xfrm>
            <a:off x="3205184" y="168526"/>
            <a:ext cx="8726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Users Fall 20% Short of Recommended Daily Activity Levels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7184F6-2D68-FFFD-3906-D68D517AEFA1}"/>
              </a:ext>
            </a:extLst>
          </p:cNvPr>
          <p:cNvSpPr txBox="1"/>
          <p:nvPr/>
        </p:nvSpPr>
        <p:spPr>
          <a:xfrm>
            <a:off x="206477" y="787138"/>
            <a:ext cx="25072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insight:</a:t>
            </a:r>
          </a:p>
          <a:p>
            <a:r>
              <a:rPr lang="en-US" dirty="0"/>
              <a:t>Users average 17 </a:t>
            </a:r>
            <a:r>
              <a:rPr lang="en-US" dirty="0" err="1"/>
              <a:t>VeryActiveMinutes</a:t>
            </a:r>
            <a:r>
              <a:rPr lang="en-US" dirty="0"/>
              <a:t> per day vs 21 recommended, a 20% deficit.</a:t>
            </a:r>
          </a:p>
          <a:p>
            <a:endParaRPr lang="en-US" b="1" dirty="0"/>
          </a:p>
          <a:p>
            <a:r>
              <a:rPr lang="en-US" b="1" dirty="0"/>
              <a:t>Recommendation:</a:t>
            </a:r>
          </a:p>
          <a:p>
            <a:r>
              <a:rPr lang="en-US" dirty="0"/>
              <a:t>Implement high-intensity activity prompts, guided workouts &amp; achievement tracking.</a:t>
            </a: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5B6A88AE-6BEA-2BAF-2C6C-76F2979D8E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7792787"/>
              </p:ext>
            </p:extLst>
          </p:nvPr>
        </p:nvGraphicFramePr>
        <p:xfrm>
          <a:off x="2713703" y="787138"/>
          <a:ext cx="9144000" cy="5852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81398" imgH="2752541" progId="Excel.Sheet.12">
                  <p:embed/>
                </p:oleObj>
              </mc:Choice>
              <mc:Fallback>
                <p:oleObj name="Worksheet" r:id="rId2" imgW="4581398" imgH="275254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13703" y="787138"/>
                        <a:ext cx="9144000" cy="5852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5375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A74E4-024D-ACC3-D768-F7B1E527D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2D0F20D-2526-6DFE-A7B3-E1E7AC3A3DDC}"/>
              </a:ext>
            </a:extLst>
          </p:cNvPr>
          <p:cNvSpPr txBox="1"/>
          <p:nvPr/>
        </p:nvSpPr>
        <p:spPr>
          <a:xfrm>
            <a:off x="3205184" y="168526"/>
            <a:ext cx="8726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Sedentary Time Far Exceeds Recommended Levels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AE794A-3F83-D38F-42B2-29AADB7DCECA}"/>
              </a:ext>
            </a:extLst>
          </p:cNvPr>
          <p:cNvSpPr txBox="1"/>
          <p:nvPr/>
        </p:nvSpPr>
        <p:spPr>
          <a:xfrm>
            <a:off x="206477" y="787138"/>
            <a:ext cx="25072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Insight:</a:t>
            </a:r>
          </a:p>
          <a:p>
            <a:r>
              <a:rPr lang="en-US" dirty="0"/>
              <a:t>Users average 995 sedentary minutes per day versus 480 recommended, exceeding healthy levels by over 100%.</a:t>
            </a:r>
          </a:p>
          <a:p>
            <a:endParaRPr lang="en-US" dirty="0"/>
          </a:p>
          <a:p>
            <a:r>
              <a:rPr lang="en-US" b="1" dirty="0"/>
              <a:t>Recommendation:</a:t>
            </a:r>
          </a:p>
          <a:p>
            <a:r>
              <a:rPr lang="en-US" dirty="0"/>
              <a:t>Implement inactivity alerts, step targets, and behavioral nudges to reduce sedentary time.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21AF752-281C-5FCC-66D8-B66107A79B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3165205"/>
              </p:ext>
            </p:extLst>
          </p:nvPr>
        </p:nvGraphicFramePr>
        <p:xfrm>
          <a:off x="2713703" y="787138"/>
          <a:ext cx="9144000" cy="5852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81398" imgH="2752541" progId="Excel.Sheet.12">
                  <p:embed/>
                </p:oleObj>
              </mc:Choice>
              <mc:Fallback>
                <p:oleObj name="Worksheet" r:id="rId2" imgW="4581398" imgH="275254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13703" y="787138"/>
                        <a:ext cx="9144000" cy="5852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321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5C16D0-6E11-0F74-C22A-41317603BD31}"/>
              </a:ext>
            </a:extLst>
          </p:cNvPr>
          <p:cNvSpPr txBox="1"/>
          <p:nvPr/>
        </p:nvSpPr>
        <p:spPr>
          <a:xfrm>
            <a:off x="528577" y="659011"/>
            <a:ext cx="1113484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Executive Recommendations</a:t>
            </a:r>
          </a:p>
          <a:p>
            <a:endParaRPr lang="en-US" sz="2000" dirty="0"/>
          </a:p>
          <a:p>
            <a:r>
              <a:rPr lang="en-US" sz="2000" b="1" dirty="0" err="1"/>
              <a:t>Bellabeat</a:t>
            </a:r>
            <a:r>
              <a:rPr lang="en-US" sz="2000" b="1" dirty="0"/>
              <a:t> should implement:</a:t>
            </a:r>
            <a:endParaRPr lang="en-US" sz="2000" dirty="0"/>
          </a:p>
          <a:p>
            <a:r>
              <a:rPr lang="en-US" sz="2000" dirty="0"/>
              <a:t>• Step progression system targeting the current 35% step deficit</a:t>
            </a:r>
            <a:br>
              <a:rPr lang="en-US" sz="2000" dirty="0"/>
            </a:br>
            <a:r>
              <a:rPr lang="en-US" sz="2000" dirty="0"/>
              <a:t>• Sedentary alerts triggered after prolonged inactivity periods</a:t>
            </a:r>
            <a:br>
              <a:rPr lang="en-US" sz="2000" dirty="0"/>
            </a:br>
            <a:r>
              <a:rPr lang="en-US" sz="2000" dirty="0"/>
              <a:t>• Milestone rewards to incentivize closing the 3,453-step daily gap</a:t>
            </a:r>
            <a:br>
              <a:rPr lang="en-US" sz="2000" dirty="0"/>
            </a:br>
            <a:r>
              <a:rPr lang="en-US" sz="2000" dirty="0"/>
              <a:t>• Personalized activity goals based on current user baseline levels</a:t>
            </a:r>
            <a:br>
              <a:rPr lang="en-US" sz="2000" dirty="0"/>
            </a:br>
            <a:r>
              <a:rPr lang="en-US" sz="2000" dirty="0"/>
              <a:t>• Guided activity prompts to increase very active minutes by 20%</a:t>
            </a:r>
          </a:p>
          <a:p>
            <a:endParaRPr lang="en-US" sz="2000" dirty="0"/>
          </a:p>
          <a:p>
            <a:r>
              <a:rPr lang="en-US" sz="2000" b="1" dirty="0"/>
              <a:t>Expected Outcome:</a:t>
            </a:r>
            <a:endParaRPr lang="en-US" sz="2000" dirty="0"/>
          </a:p>
          <a:p>
            <a:r>
              <a:rPr lang="en-US" sz="2000" dirty="0"/>
              <a:t>• Increased daily step counts toward 10,000-step benchmark</a:t>
            </a:r>
            <a:br>
              <a:rPr lang="en-US" sz="2000" dirty="0"/>
            </a:br>
            <a:r>
              <a:rPr lang="en-US" sz="2000" dirty="0"/>
              <a:t>• Reduction in sedentary time from current excessive levels</a:t>
            </a:r>
            <a:br>
              <a:rPr lang="en-US" sz="2000" dirty="0"/>
            </a:br>
            <a:r>
              <a:rPr lang="en-US" sz="2000" dirty="0"/>
              <a:t>• Improved physical activity compliance among inactive users</a:t>
            </a:r>
            <a:br>
              <a:rPr lang="en-US" sz="2000" dirty="0"/>
            </a:br>
            <a:r>
              <a:rPr lang="en-US" sz="2000" dirty="0"/>
              <a:t>• Increased user retention through engagement reinforcement</a:t>
            </a:r>
          </a:p>
          <a:p>
            <a:r>
              <a:rPr lang="en-US" sz="2000" dirty="0"/>
              <a:t>• Increase average steps by 15–25% within 90 days</a:t>
            </a:r>
          </a:p>
          <a:p>
            <a:endParaRPr lang="en-US" sz="1600" dirty="0"/>
          </a:p>
        </p:txBody>
      </p:sp>
      <p:pic>
        <p:nvPicPr>
          <p:cNvPr id="5" name="Picture 4" descr="A circular building with many windows&#10;&#10;AI-generated content may be incorrect.">
            <a:extLst>
              <a:ext uri="{FF2B5EF4-FFF2-40B4-BE49-F238E27FC236}">
                <a16:creationId xmlns:a16="http://schemas.microsoft.com/office/drawing/2014/main" id="{45BFE4F0-7D4E-3CEC-95D2-513F0E25B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139" y="814388"/>
            <a:ext cx="3674283" cy="452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51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0D536-67D4-E484-BF34-D29814552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FAB4DC-40BF-099F-8025-7B65A2395547}"/>
              </a:ext>
            </a:extLst>
          </p:cNvPr>
          <p:cNvSpPr txBox="1"/>
          <p:nvPr/>
        </p:nvSpPr>
        <p:spPr>
          <a:xfrm>
            <a:off x="528577" y="659011"/>
            <a:ext cx="1113484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Expected Impact</a:t>
            </a:r>
          </a:p>
          <a:p>
            <a:endParaRPr lang="en-US" sz="2000" dirty="0"/>
          </a:p>
          <a:p>
            <a:r>
              <a:rPr lang="en-US" sz="2000" b="1" dirty="0"/>
              <a:t>Projected Behavioral Improvements</a:t>
            </a:r>
            <a:endParaRPr lang="en-US" sz="2000" dirty="0"/>
          </a:p>
          <a:p>
            <a:r>
              <a:rPr lang="en-US" sz="2000" dirty="0"/>
              <a:t>• Increase average daily steps from 6,547 toward 8,000–10,000 range</a:t>
            </a:r>
          </a:p>
          <a:p>
            <a:r>
              <a:rPr lang="en-US" sz="2000" dirty="0"/>
              <a:t>• Reduce sedentary time from 995 minutes toward recommended 480 minutes</a:t>
            </a:r>
          </a:p>
          <a:p>
            <a:r>
              <a:rPr lang="en-US" sz="2000" dirty="0"/>
              <a:t>• Increase very active minutes from 17 toward recommended 21+ minutes</a:t>
            </a:r>
          </a:p>
          <a:p>
            <a:endParaRPr lang="en-US" sz="2000" dirty="0"/>
          </a:p>
          <a:p>
            <a:r>
              <a:rPr lang="en-US" sz="2000" b="1" dirty="0"/>
              <a:t>Business Impact</a:t>
            </a:r>
            <a:endParaRPr lang="en-US" sz="2000" dirty="0"/>
          </a:p>
          <a:p>
            <a:r>
              <a:rPr lang="en-US" sz="2000" dirty="0"/>
              <a:t>• Increased user engagement with </a:t>
            </a:r>
            <a:r>
              <a:rPr lang="en-US" sz="2000" dirty="0" err="1"/>
              <a:t>Bellabeat</a:t>
            </a:r>
            <a:r>
              <a:rPr lang="en-US" sz="2000" dirty="0"/>
              <a:t> platform</a:t>
            </a:r>
          </a:p>
          <a:p>
            <a:r>
              <a:rPr lang="en-US" sz="2000" dirty="0"/>
              <a:t>• Higher user retention due to habit formation</a:t>
            </a:r>
          </a:p>
          <a:p>
            <a:r>
              <a:rPr lang="en-US" sz="2000" dirty="0"/>
              <a:t>• Increased product value perception</a:t>
            </a:r>
          </a:p>
          <a:p>
            <a:r>
              <a:rPr lang="en-US" sz="2000" dirty="0"/>
              <a:t>• Stronger competitive positioning in fitness wearable market</a:t>
            </a:r>
          </a:p>
          <a:p>
            <a:endParaRPr lang="en-US" sz="2000" dirty="0"/>
          </a:p>
          <a:p>
            <a:r>
              <a:rPr lang="en-US" sz="2000" b="1" dirty="0"/>
              <a:t>Strategic Outcome</a:t>
            </a:r>
            <a:endParaRPr lang="en-US" sz="2000" dirty="0"/>
          </a:p>
          <a:p>
            <a:r>
              <a:rPr lang="en-US" sz="2000" dirty="0"/>
              <a:t>• </a:t>
            </a:r>
            <a:r>
              <a:rPr lang="en-US" sz="2000" dirty="0" err="1"/>
              <a:t>Bellabeat</a:t>
            </a:r>
            <a:r>
              <a:rPr lang="en-US" sz="2000" dirty="0"/>
              <a:t> transitions from passive tracker → active behavior-change platform</a:t>
            </a:r>
            <a:endParaRPr lang="en-US" sz="1600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EC81C98F-A930-50D6-0EE7-F095BA873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79" y="2943225"/>
            <a:ext cx="981075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5179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326</Words>
  <Application>Microsoft Office PowerPoint</Application>
  <PresentationFormat>Widescreen</PresentationFormat>
  <Paragraphs>44</Paragraphs>
  <Slides>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Microsoft Excel Worksheet</vt:lpstr>
      <vt:lpstr>Bellabeat Activy &amp;  Behavior Analysis 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Vaughn</dc:creator>
  <cp:lastModifiedBy>Chris Vaughn</cp:lastModifiedBy>
  <cp:revision>5</cp:revision>
  <dcterms:created xsi:type="dcterms:W3CDTF">2026-02-17T20:24:01Z</dcterms:created>
  <dcterms:modified xsi:type="dcterms:W3CDTF">2026-02-17T21:42:52Z</dcterms:modified>
</cp:coreProperties>
</file>